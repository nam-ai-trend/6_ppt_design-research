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gwn/antigravity/6_ppt_design_skill  +research/outputs/260522_notebooklm_vs_claude/assets/title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0"/>
            <a:ext cx="43434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8640"/>
            <a:ext cx="2871216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RESEARCH REVOLUTION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41148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바이브코딩 시대의 리서치 혁명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단순 LLM 검색의 한계 극복과 초정규화 RAG 시너지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2026년 5월 22일 | 안티그래비티 딥 리서치 에이전트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Our Contents</a:t>
            </a:r>
            <a:endParaRPr lang="en-US" sz="4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0" y="203454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0" y="20345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27448" y="20162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RAG 아키텍처와 신뢰성 비교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235458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253746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25374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27448" y="25191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실전 비즈니스 임팩트와 워크플로우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285750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304038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30403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27448" y="30220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시장 트렌드 및 시너지 전략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97680" y="336042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RAG 아키텍처와 신뢰성 비교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엄격한 출처 접지 RAG 엔진과 일반 LLM 브라우징의 구조적 성능 대결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2980944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ARCHITECTURE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758184" y="54864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Strict RAG와 일반 웹서치의 구조적 차이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스탠퍼드 연구 결과 가드레일을 결합한 RAG 시스템은 할루시네이션을 최대 96% 차단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Strict Grounding RAG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업로드한 소스 내부 지식 세트에서만 100% 사실 기반 추출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Contextual Grounding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외부 지식 융합으로 유연하나 subtle hallucination 발생 우려</a:t>
            </a:r>
            <a:endParaRPr lang="en-US" sz="1200" dirty="0"/>
          </a:p>
        </p:txBody>
      </p:sp>
      <p:pic>
        <p:nvPicPr>
          <p:cNvPr id="14" name="Image 0" descr="/Users/gwn/antigravity/6_ppt_design_skill  +research/outputs/260522_notebooklm_vs_claude/assets/concept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170432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276148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PRODUCT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38728" y="548640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NotebookLM vs Claude Projects 핵심 기능 대결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F9F9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NOTEBOOKLM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노트북엘엠 (NotebookLM)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무료 티어 500K 단어 수용 및 정확한 문헌 추적이 가능한 클릭형 인라인 인용구 제공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F9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4173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38728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클로드 프로젝트 (Claude)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38728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200K 토큰 컨텍스트 윈도우 기반 정교한 추론 및 코딩, 에디토리얼 Artifacts 기능 최적화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17336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F9F9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4173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퍼플렉시티 (Perplexity Pro)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936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월 7억 8,000만 쿼리 처리 능력의 실시간 고성능 웹 답변 엔진 및 지식 인덱스 연동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실전 비즈니스 임팩트와 워크플로우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매주 25시간을 절감하는 실전 RAG 사례와 3단계 AI 연계 전략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276148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BUSINESS IMPACT &amp; 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38728" y="548640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정량적 리서치 성능 데이터 및 합의 성공 사례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292608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지표 유형</a:t>
                      </a:r>
                      <a:endParaRPr lang="en-US" sz="12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Legacy Keyword Search</a:t>
                      </a:r>
                      <a:endParaRPr lang="en-US" sz="12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RAG-LLM 도입 후 성능</a:t>
                      </a:r>
                      <a:endParaRPr lang="en-US" sz="12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사내 특허 검색 속도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평균 23.04초 소요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18.05초로 단축 완료 (Hit Rate 85%+)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수술 준비 문헌 검토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인간 전문가 10분 소요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15~20초 완성 (정확도 91.4% 달성)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법적 분쟁 증거 검증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5년치 메일 수천 장 미검증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lack Han Sans" pitchFamily="34" charset="0"/>
                          <a:ea typeface="Black Han Sans" pitchFamily="34" charset="-122"/>
                          <a:cs typeface="Black Han Sans" pitchFamily="34" charset="-120"/>
                        </a:rPr>
                        <a:t>5자릿수 달러 화해금 획득 (NotebookLM 증거)</a:t>
                      </a:r>
                      <a:endParaRPr lang="en-US" sz="1100" dirty="0">
                        <a:latin typeface="Black Han Sans" charset="0"/>
                        <a:ea typeface="Black Han Sans" charset="0"/>
                        <a:cs typeface="Black Ha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COMPLEMENTARY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29000" y="5486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Perplexity + NotebookLM + Claude 3단계 초시너지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1225296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STEP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Perplexity Pro (수집)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실시간 웹 검색을 통해 최신 벤치마크 점수와 심도 있는 최신 팩트 문헌들을 광범위하게 수집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417320"/>
            <a:ext cx="1225296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STEP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38728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NotebookLM RAG (구조화)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38728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수집 문헌들을 로드하여 strict grounding 기반의 오염 없는 핵심 요약 및 RAG 아웃라인 추출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17336" y="1170432"/>
            <a:ext cx="2532888" cy="3200400"/>
          </a:xfrm>
          <a:prstGeom prst="rect">
            <a:avLst>
              <a:gd name="adj" fmla="val 1805"/>
            </a:avLst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417320"/>
            <a:ext cx="1225296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STEP 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18288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Claude Projects (작성)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936" y="2423160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구조화된 팩트 아웃라인을 Claude로 연동하여 최고 수준의 비즈니스 톤앤매너로 최종 작성 및 에셋화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3529584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MARKET OUTLOOK &amp; COMPETITORS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06824" y="54864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글로벌 AI 리서치 시장 성과 및 미래 전망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532888" cy="3374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글로벌 시장 성장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98424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2024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기업용 검색 시장 2030년 86억 달러 돌파 및 AI 리서치 CAGR 16.1% 성장</a:t>
            </a:r>
            <a:endParaRPr lang="en-US" sz="1200" dirty="0"/>
          </a:p>
        </p:txBody>
      </p:sp>
      <p:pic>
        <p:nvPicPr>
          <p:cNvPr id="11" name="Image 0" descr="/Users/gwn/antigravity/6_ppt_design_skill  +research/outputs/260522_notebooklm_vs_claude/assets/market_grow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971800"/>
            <a:ext cx="1984248" cy="1051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16052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MARKET SIZE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10128" y="1170432"/>
            <a:ext cx="2532888" cy="3374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Text 11"/>
          <p:cNvSpPr/>
          <p:nvPr/>
        </p:nvSpPr>
        <p:spPr>
          <a:xfrm>
            <a:off x="3584448" y="1417320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OpenAI ChatGPT Search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84448" y="1828800"/>
            <a:ext cx="198424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84448" y="192024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ChatGPT Search 출시로 주당 2.5억~5억 쿼리를 독점하며 시장 60.7% 지배</a:t>
            </a:r>
            <a:endParaRPr lang="en-US" sz="1200" dirty="0"/>
          </a:p>
        </p:txBody>
      </p:sp>
      <p:pic>
        <p:nvPicPr>
          <p:cNvPr id="17" name="Image 1" descr="/Users/gwn/antigravity/6_ppt_design_skill  +research/outputs/260522_notebooklm_vs_claude/assets/competitor_opena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4448" y="2971800"/>
            <a:ext cx="1984248" cy="10515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84448" y="416052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COMPETITOR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17336" y="1170432"/>
            <a:ext cx="2532888" cy="3374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Text 16"/>
          <p:cNvSpPr/>
          <p:nvPr/>
        </p:nvSpPr>
        <p:spPr>
          <a:xfrm>
            <a:off x="6391656" y="1417320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구글 RAG 에이전트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391656" y="1828800"/>
            <a:ext cx="198424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91656" y="192024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NotebookLM에 Deep Research 기능 전면 통합으로 자율적 마켓 인덱싱 완성</a:t>
            </a:r>
            <a:endParaRPr lang="en-US" sz="1200" dirty="0"/>
          </a:p>
        </p:txBody>
      </p:sp>
      <p:pic>
        <p:nvPicPr>
          <p:cNvPr id="23" name="Image 2" descr="/Users/gwn/antigravity/6_ppt_design_skill  +research/outputs/260522_notebooklm_vs_claude/assets/google_age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91656" y="2971800"/>
            <a:ext cx="1984248" cy="10515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416052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DIFFERENTIATOR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225296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Research Report | NotebookLM vs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자료 리서치의 최고봉, NotebookLM RAG를 통해 생산성 차이를 만드십시오.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검증된 출처 기반 지식 자산화가 비즈니스의 초격차 의사결정을 리드합니다.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2026-05-22T13:57:31Z</dcterms:created>
  <dcterms:modified xsi:type="dcterms:W3CDTF">2026-05-22T13:57:31Z</dcterms:modified>
</cp:coreProperties>
</file>